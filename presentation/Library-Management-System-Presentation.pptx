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1280160"/>
            <a:ext cx="6035040" cy="6035040"/>
          </a:xfrm>
          <a:prstGeom prst="ellipse">
            <a:avLst/>
          </a:prstGeom>
          <a:solidFill>
            <a:srgbClr val="1B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3291840"/>
            <a:ext cx="3840480" cy="3840480"/>
          </a:xfrm>
          <a:prstGeom prst="ellipse">
            <a:avLst/>
          </a:prstGeom>
          <a:solidFill>
            <a:srgbClr val="152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FB6A6"/>
                </a:solidFill>
                <a:latin typeface="Segoe UI"/>
              </a:rPr>
              <a:t>ACADEMIC PROJECT PRESENTATION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8595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700" b="1">
                <a:solidFill>
                  <a:srgbClr val="FFFFFF"/>
                </a:solidFill>
                <a:latin typeface="Trebuchet MS"/>
              </a:rPr>
              <a:t>Library Management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700" b="1">
                <a:solidFill>
                  <a:srgbClr val="1FB6A6"/>
                </a:solidFill>
                <a:latin typeface="Trebuchet MS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03320"/>
            <a:ext cx="1371600" cy="3810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B6C4D8"/>
                </a:solidFill>
                <a:latin typeface="Segoe UI"/>
              </a:rPr>
              <a:t>A full-stack web application that digitizes cataloguing, membership, circulation, fines and reporting for an academic 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1417320" cy="365760"/>
          </a:xfrm>
          <a:prstGeom prst="roundRect">
            <a:avLst>
              <a:gd name="adj" fmla="val 28000"/>
            </a:avLst>
          </a:prstGeom>
          <a:solidFill>
            <a:srgbClr val="1B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FB6A6"/>
                </a:solidFill>
                <a:latin typeface="Segoe UI"/>
              </a:rPr>
              <a:t>Laravel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5029200"/>
            <a:ext cx="1417320" cy="365760"/>
          </a:xfrm>
          <a:prstGeom prst="roundRect">
            <a:avLst>
              <a:gd name="adj" fmla="val 28000"/>
            </a:avLst>
          </a:prstGeom>
          <a:solidFill>
            <a:srgbClr val="1B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4B43F"/>
                </a:solidFill>
                <a:latin typeface="Segoe UI"/>
              </a:rPr>
              <a:t>PHP 8.3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9935" y="5029200"/>
            <a:ext cx="1417320" cy="365760"/>
          </a:xfrm>
          <a:prstGeom prst="roundRect">
            <a:avLst>
              <a:gd name="adj" fmla="val 28000"/>
            </a:avLst>
          </a:prstGeom>
          <a:solidFill>
            <a:srgbClr val="1B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7C6CE7"/>
                </a:solidFill>
                <a:latin typeface="Segoe UI"/>
              </a:rPr>
              <a:t>MySQL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32704" y="5029200"/>
            <a:ext cx="1417320" cy="365760"/>
          </a:xfrm>
          <a:prstGeom prst="roundRect">
            <a:avLst>
              <a:gd name="adj" fmla="val 28000"/>
            </a:avLst>
          </a:prstGeom>
          <a:solidFill>
            <a:srgbClr val="1B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E96A5E"/>
                </a:solidFill>
                <a:latin typeface="Segoe UI"/>
              </a:rPr>
              <a:t>Bootstrap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806440"/>
            <a:ext cx="10332720" cy="9525"/>
          </a:xfrm>
          <a:prstGeom prst="rect">
            <a:avLst/>
          </a:prstGeom>
          <a:solidFill>
            <a:srgbClr val="2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E8EA8"/>
                </a:solidFill>
                <a:latin typeface="Segoe UI"/>
              </a:rPr>
              <a:t>Presented by  </a:t>
            </a:r>
            <a:r>
              <a:rPr sz="1100" b="1">
                <a:solidFill>
                  <a:srgbClr val="FFFFFF"/>
                </a:solidFill>
                <a:latin typeface="Segoe UI"/>
              </a:rPr>
              <a:t>Yusuf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9893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E8EA8"/>
                </a:solidFill>
                <a:latin typeface="Segoe UI"/>
              </a:rPr>
              <a:t>github.com/yusuf0836/Library-Management-System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WHAT THIS PRESENTATION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FB6A6"/>
                </a:solidFill>
                <a:latin typeface="Trebuchet MS"/>
              </a:rPr>
              <a:t>01   </a:t>
            </a:r>
            <a:r>
              <a:rPr sz="1300" b="1">
                <a:solidFill>
                  <a:srgbClr val="121C2E"/>
                </a:solidFill>
                <a:latin typeface="Trebuchet MS"/>
              </a:rPr>
              <a:t>Problem Statement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Why manual library operations break down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50292" cy="82296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481328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F4B43F"/>
                </a:solidFill>
                <a:latin typeface="Trebuchet MS"/>
              </a:rPr>
              <a:t>02   </a:t>
            </a:r>
            <a:r>
              <a:rPr sz="1300" b="1">
                <a:solidFill>
                  <a:srgbClr val="121C2E"/>
                </a:solidFill>
                <a:latin typeface="Trebuchet MS"/>
              </a:rPr>
              <a:t>Objectives &amp; Scope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What the system sets out to solve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1481328"/>
            <a:ext cx="50292" cy="82296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441448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7C6CE7"/>
                </a:solidFill>
                <a:latin typeface="Trebuchet MS"/>
              </a:rPr>
              <a:t>03   </a:t>
            </a:r>
            <a:r>
              <a:rPr sz="1300" b="1">
                <a:solidFill>
                  <a:srgbClr val="121C2E"/>
                </a:solidFill>
                <a:latin typeface="Trebuchet MS"/>
              </a:rPr>
              <a:t>Technology Stack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Laravel, MySQL, Blade, Chart.js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41448"/>
            <a:ext cx="50292" cy="822960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441448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E96A5E"/>
                </a:solidFill>
                <a:latin typeface="Trebuchet MS"/>
              </a:rPr>
              <a:t>04   </a:t>
            </a:r>
            <a:r>
              <a:rPr sz="1300" b="1">
                <a:solidFill>
                  <a:srgbClr val="121C2E"/>
                </a:solidFill>
                <a:latin typeface="Trebuchet MS"/>
              </a:rPr>
              <a:t>System Architecture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MVC request lifecycle and layers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2441448"/>
            <a:ext cx="50292" cy="822960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401568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FB6A6"/>
                </a:solidFill>
                <a:latin typeface="Trebuchet MS"/>
              </a:rPr>
              <a:t>05   </a:t>
            </a:r>
            <a:r>
              <a:rPr sz="1300" b="1">
                <a:solidFill>
                  <a:srgbClr val="121C2E"/>
                </a:solidFill>
                <a:latin typeface="Trebuchet MS"/>
              </a:rPr>
              <a:t>Database Design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11 tables, relationships, integrity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401568"/>
            <a:ext cx="50292" cy="82296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3401568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F4B43F"/>
                </a:solidFill>
                <a:latin typeface="Trebuchet MS"/>
              </a:rPr>
              <a:t>06   </a:t>
            </a:r>
            <a:r>
              <a:rPr sz="1300" b="1">
                <a:solidFill>
                  <a:srgbClr val="121C2E"/>
                </a:solidFill>
                <a:latin typeface="Trebuchet MS"/>
              </a:rPr>
              <a:t>Roles &amp; Security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Admin, Librarian, Member access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3401568"/>
            <a:ext cx="50292" cy="82296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361688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7C6CE7"/>
                </a:solidFill>
                <a:latin typeface="Trebuchet MS"/>
              </a:rPr>
              <a:t>07   </a:t>
            </a:r>
            <a:r>
              <a:rPr sz="1300" b="1">
                <a:solidFill>
                  <a:srgbClr val="121C2E"/>
                </a:solidFill>
                <a:latin typeface="Trebuchet MS"/>
              </a:rPr>
              <a:t>Core Modules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Catalogue, membership, circulation, fines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61688"/>
            <a:ext cx="50292" cy="822960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4361688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E96A5E"/>
                </a:solidFill>
                <a:latin typeface="Trebuchet MS"/>
              </a:rPr>
              <a:t>08   </a:t>
            </a:r>
            <a:r>
              <a:rPr sz="1300" b="1">
                <a:solidFill>
                  <a:srgbClr val="121C2E"/>
                </a:solidFill>
                <a:latin typeface="Trebuchet MS"/>
              </a:rPr>
              <a:t>Reports &amp; Dashboard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Live KPIs, charts and CSV export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4361688"/>
            <a:ext cx="50292" cy="822960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321808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FB6A6"/>
                </a:solidFill>
                <a:latin typeface="Trebuchet MS"/>
              </a:rPr>
              <a:t>09   </a:t>
            </a:r>
            <a:r>
              <a:rPr sz="1300" b="1">
                <a:solidFill>
                  <a:srgbClr val="121C2E"/>
                </a:solidFill>
                <a:latin typeface="Trebuchet MS"/>
              </a:rPr>
              <a:t>Testing &amp; Results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Feature tests and outcomes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321808"/>
            <a:ext cx="50292" cy="82296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5321808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F4B43F"/>
                </a:solidFill>
                <a:latin typeface="Trebuchet MS"/>
              </a:rPr>
              <a:t>10   </a:t>
            </a:r>
            <a:r>
              <a:rPr sz="1300" b="1">
                <a:solidFill>
                  <a:srgbClr val="121C2E"/>
                </a:solidFill>
                <a:latin typeface="Trebuchet MS"/>
              </a:rPr>
              <a:t>Limitations &amp; Future Work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Roadmap beyond version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0488" y="5321808"/>
            <a:ext cx="50292" cy="82296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01 ·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The Problem with Manual Library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400" b="1">
                <a:solidFill>
                  <a:srgbClr val="121C2E"/>
                </a:solidFill>
                <a:latin typeface="Trebuchet MS"/>
              </a:rPr>
              <a:t>Registers don't scale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50">
                <a:solidFill>
                  <a:srgbClr val="4A5568"/>
                </a:solidFill>
                <a:latin typeface="Segoe UI"/>
              </a:rPr>
              <a:t>Ledger books and spreadsheets cannot answer "who has this copy right now?" without a manual search.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50292" cy="123444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55448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400" b="1">
                <a:solidFill>
                  <a:srgbClr val="121C2E"/>
                </a:solidFill>
                <a:latin typeface="Trebuchet MS"/>
              </a:rPr>
              <a:t>No real-time availability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50">
                <a:solidFill>
                  <a:srgbClr val="4A5568"/>
                </a:solidFill>
                <a:latin typeface="Segoe UI"/>
              </a:rPr>
              <a:t>Students queue at the desk only to learn every copy of a title is already issued.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1554480"/>
            <a:ext cx="50292" cy="123444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97180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400" b="1">
                <a:solidFill>
                  <a:srgbClr val="121C2E"/>
                </a:solidFill>
                <a:latin typeface="Trebuchet MS"/>
              </a:rPr>
              <a:t>Overdue tracking fails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50">
                <a:solidFill>
                  <a:srgbClr val="4A5568"/>
                </a:solidFill>
                <a:latin typeface="Segoe UI"/>
              </a:rPr>
              <a:t>Due dates are checked by eye, so late returns and fines are inconsistently enforced.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971800"/>
            <a:ext cx="50292" cy="1234440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97180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400" b="1">
                <a:solidFill>
                  <a:srgbClr val="121C2E"/>
                </a:solidFill>
                <a:latin typeface="Trebuchet MS"/>
              </a:rPr>
              <a:t>No usable reporting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50">
                <a:solidFill>
                  <a:srgbClr val="4A5568"/>
                </a:solidFill>
                <a:latin typeface="Segoe UI"/>
              </a:rPr>
              <a:t>Circulation trends, stock status and outstanding dues take hours to compile by hand.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2971800"/>
            <a:ext cx="50292" cy="1234440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526280"/>
            <a:ext cx="11073384" cy="96012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B43F"/>
                </a:solidFill>
                <a:latin typeface="Segoe UI"/>
              </a:rPr>
              <a:t>Consequence:  </a:t>
            </a:r>
            <a:r>
              <a:rPr sz="1300" b="0">
                <a:solidFill>
                  <a:srgbClr val="D5DEEA"/>
                </a:solidFill>
                <a:latin typeface="Segoe UI"/>
              </a:rPr>
              <a:t>staff time is consumed by clerical work, book loss goes undetected, and library policy cannot be enforced consistently or audited.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02 ·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03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1677924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00200"/>
            <a:ext cx="6492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4A5568"/>
                </a:solidFill>
                <a:latin typeface="Segoe UI"/>
              </a:rPr>
              <a:t>Digitize the full catalogue — categories, authors, publishers, books and physical copies.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244852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167128"/>
            <a:ext cx="6492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4A5568"/>
                </a:solidFill>
                <a:latin typeface="Segoe UI"/>
              </a:rPr>
              <a:t>Track every physical copy individually by accession number, shelf location and status.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811780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34056"/>
            <a:ext cx="6492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4A5568"/>
                </a:solidFill>
                <a:latin typeface="Segoe UI"/>
              </a:rPr>
              <a:t>Automate the issue and return workflow with enforced due dates.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3378708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300984"/>
            <a:ext cx="6492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4A5568"/>
                </a:solidFill>
                <a:latin typeface="Segoe UI"/>
              </a:rPr>
              <a:t>Generate overdue fines automatically from configurable library rules.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945636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67912"/>
            <a:ext cx="6492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4A5568"/>
                </a:solidFill>
                <a:latin typeface="Segoe UI"/>
              </a:rPr>
              <a:t>Enforce role-based access for Admin, Librarian and Member users.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4512564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434840"/>
            <a:ext cx="6492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4A5568"/>
                </a:solidFill>
                <a:latin typeface="Segoe UI"/>
              </a:rPr>
              <a:t>Provide a live dashboard with statistics, charts and exportable reports.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1481328"/>
            <a:ext cx="4005072" cy="448056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178308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SCOPE BOUNDARY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36992" y="2121408"/>
            <a:ext cx="822960" cy="2540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239572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FB6A6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Catalogue &amp; copy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72491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FB6A6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Member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305409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FB6A6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Issue / return circulation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33832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FB6A6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Fine calculation &amp; 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371246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FB6A6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Dashboard, reports, CSV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404164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FB6A6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System settings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45262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96A5E"/>
                </a:solidFill>
                <a:latin typeface="Segoe UI"/>
              </a:rPr>
              <a:t>OUT OF SCOPE (v1)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48463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6A5E"/>
                </a:solidFill>
                <a:latin typeface="Segoe UI"/>
              </a:rPr>
              <a:t>×  </a:t>
            </a:r>
            <a:r>
              <a:rPr sz="1050" b="0">
                <a:solidFill>
                  <a:srgbClr val="9EACC2"/>
                </a:solidFill>
                <a:latin typeface="Segoe UI"/>
              </a:rPr>
              <a:t>Online reservations &amp; payment 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515721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6A5E"/>
                </a:solidFill>
                <a:latin typeface="Segoe UI"/>
              </a:rPr>
              <a:t>×  </a:t>
            </a:r>
            <a:r>
              <a:rPr sz="1050" b="0">
                <a:solidFill>
                  <a:srgbClr val="9EACC2"/>
                </a:solidFill>
                <a:latin typeface="Segoe UI"/>
              </a:rPr>
              <a:t>Barcode / RFID hardware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546811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6A5E"/>
                </a:solidFill>
                <a:latin typeface="Segoe UI"/>
              </a:rPr>
              <a:t>×  </a:t>
            </a:r>
            <a:r>
              <a:rPr sz="1050" b="0">
                <a:solidFill>
                  <a:srgbClr val="9EACC2"/>
                </a:solidFill>
                <a:latin typeface="Segoe UI"/>
              </a:rPr>
              <a:t>Email &amp; SMS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03 · TOOLS &amp;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36192"/>
            <a:ext cx="2129496" cy="420624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6424" y="1536192"/>
            <a:ext cx="3407195" cy="420624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3619" y="1536192"/>
            <a:ext cx="5536692" cy="420624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Role in the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956816"/>
            <a:ext cx="212949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1C2E"/>
                </a:solidFill>
                <a:latin typeface="Segoe UI"/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6424" y="1956816"/>
            <a:ext cx="34071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PHP 8.3 · Laravel 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3619" y="1956816"/>
            <a:ext cx="55366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Routing, controllers, validation, middleware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340864"/>
            <a:ext cx="2129496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1C2E"/>
                </a:solidFill>
                <a:latin typeface="Segoe UI"/>
              </a:rPr>
              <a:t>Database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6424" y="2340864"/>
            <a:ext cx="3407195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MySQL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3619" y="2340864"/>
            <a:ext cx="5536692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Relational storage with foreign-key integrity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24912"/>
            <a:ext cx="212949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1C2E"/>
                </a:solidFill>
                <a:latin typeface="Segoe UI"/>
              </a:rPr>
              <a:t>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6424" y="2724912"/>
            <a:ext cx="34071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Laravel Eloquent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19" y="2724912"/>
            <a:ext cx="55366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Models, relationships, eager loading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108960"/>
            <a:ext cx="2129496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1C2E"/>
                </a:solidFill>
                <a:latin typeface="Segoe UI"/>
              </a:rPr>
              <a:t>Frontend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6424" y="3108960"/>
            <a:ext cx="3407195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Blade · Bootstrap 5 · 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3619" y="3108960"/>
            <a:ext cx="5536692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Server-rendered responsive interface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493008"/>
            <a:ext cx="212949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1C2E"/>
                </a:solidFill>
                <a:latin typeface="Segoe UI"/>
              </a:rPr>
              <a:t>Charts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6424" y="3493008"/>
            <a:ext cx="34071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Chart.js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3619" y="3493008"/>
            <a:ext cx="55366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Copy-status doughnut and monthly issue trend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877056"/>
            <a:ext cx="2129496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1C2E"/>
                </a:solidFill>
                <a:latin typeface="Segoe UI"/>
              </a:rPr>
              <a:t>Auth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6424" y="3877056"/>
            <a:ext cx="3407195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Laravel session auth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3619" y="3877056"/>
            <a:ext cx="5536692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Login, hashing, CSRF, role middleware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261104"/>
            <a:ext cx="212949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1C2E"/>
                </a:solidFill>
                <a:latin typeface="Segoe UI"/>
              </a:rPr>
              <a:t>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6424" y="4261104"/>
            <a:ext cx="340719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Vite · npm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3619" y="4261104"/>
            <a:ext cx="55366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Asset bundling for CSS and JavaScript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645152"/>
            <a:ext cx="2129496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1C2E"/>
                </a:solidFill>
                <a:latin typeface="Segoe UI"/>
              </a:rPr>
              <a:t>Tooling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6424" y="4645152"/>
            <a:ext cx="3407195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Git · GitHub · XAMPP · PHPUnit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3619" y="4645152"/>
            <a:ext cx="5536692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Segoe UI"/>
              </a:rPr>
              <a:t>Version control, local server, testing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074920"/>
            <a:ext cx="1107338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1C2E"/>
                </a:solidFill>
                <a:latin typeface="Segoe UI"/>
              </a:rPr>
              <a:t>Why Laravel?  </a:t>
            </a:r>
            <a:r>
              <a:rPr sz="1150" b="0">
                <a:solidFill>
                  <a:srgbClr val="4A5568"/>
                </a:solidFill>
                <a:latin typeface="Segoe UI"/>
              </a:rPr>
              <a:t>Eloquent ORM, migrations, request validation, middleware and Blade templating remove large amounts of boilerplate, so development time goes into library logic instead of plumbing.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074920"/>
            <a:ext cx="50292" cy="82296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System Architecture — MVC Request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91640"/>
            <a:ext cx="163677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121C2E"/>
                </a:solidFill>
                <a:latin typeface="Trebuchet MS"/>
              </a:rPr>
              <a:t>Browser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Blade views  Bootstrap 5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91640"/>
            <a:ext cx="1636776" cy="82296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2240280" y="2322576"/>
            <a:ext cx="164592" cy="164592"/>
          </a:xfrm>
          <a:prstGeom prst="rightArrow">
            <a:avLst/>
          </a:prstGeom>
          <a:solidFill>
            <a:srgbClr val="A8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41448" y="1691640"/>
            <a:ext cx="163677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121C2E"/>
                </a:solidFill>
                <a:latin typeface="Trebuchet MS"/>
              </a:rPr>
              <a:t>Routes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routes/web.php  named routes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1448" y="1691640"/>
            <a:ext cx="1636776" cy="82296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114800" y="2322576"/>
            <a:ext cx="164592" cy="164592"/>
          </a:xfrm>
          <a:prstGeom prst="rightArrow">
            <a:avLst/>
          </a:prstGeom>
          <a:solidFill>
            <a:srgbClr val="A8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691640"/>
            <a:ext cx="163677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121C2E"/>
                </a:solidFill>
                <a:latin typeface="Trebuchet MS"/>
              </a:rPr>
              <a:t>Middleware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auth · guest  role:admin,librarian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691640"/>
            <a:ext cx="1636776" cy="82296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989320" y="2322576"/>
            <a:ext cx="164592" cy="164592"/>
          </a:xfrm>
          <a:prstGeom prst="rightArrow">
            <a:avLst/>
          </a:prstGeom>
          <a:solidFill>
            <a:srgbClr val="A8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1691640"/>
            <a:ext cx="163677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121C2E"/>
                </a:solidFill>
                <a:latin typeface="Trebuchet MS"/>
              </a:rPr>
              <a:t>Controllers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15 controllers  validation + logic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691640"/>
            <a:ext cx="1636776" cy="82296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863840" y="2322576"/>
            <a:ext cx="164592" cy="164592"/>
          </a:xfrm>
          <a:prstGeom prst="rightArrow">
            <a:avLst/>
          </a:prstGeom>
          <a:solidFill>
            <a:srgbClr val="A8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691640"/>
            <a:ext cx="163677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121C2E"/>
                </a:solidFill>
                <a:latin typeface="Trebuchet MS"/>
              </a:rPr>
              <a:t>Models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10 Eloquent models  relationships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1691640"/>
            <a:ext cx="1636776" cy="82296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9738360" y="2322576"/>
            <a:ext cx="164592" cy="164592"/>
          </a:xfrm>
          <a:prstGeom prst="rightArrow">
            <a:avLst/>
          </a:prstGeom>
          <a:solidFill>
            <a:srgbClr val="A8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39528" y="1691640"/>
            <a:ext cx="163677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121C2E"/>
                </a:solidFill>
                <a:latin typeface="Trebuchet MS"/>
              </a:rPr>
              <a:t>MySQL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11 tables  FK constraints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39528" y="1691640"/>
            <a:ext cx="1636776" cy="82296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273552"/>
            <a:ext cx="11073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C9AB0"/>
                </a:solidFill>
                <a:latin typeface="Segoe UI"/>
              </a:rPr>
              <a:t>Request flows left to right; the rendered HTML response flows back.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749039"/>
            <a:ext cx="353872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250" b="1">
                <a:solidFill>
                  <a:srgbClr val="121C2E"/>
                </a:solidFill>
                <a:latin typeface="Trebuchet MS"/>
              </a:rPr>
              <a:t>Separation of concerns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Controllers hold request handling and business rules; models own data access and relationships; Blade owns presentation only.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749039"/>
            <a:ext cx="50292" cy="141732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5112" y="3749039"/>
            <a:ext cx="353872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250" b="1">
                <a:solidFill>
                  <a:srgbClr val="121C2E"/>
                </a:solidFill>
                <a:latin typeface="Trebuchet MS"/>
              </a:rPr>
              <a:t>Guarded routes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Route groups apply auth and role middleware, so authorization is declared once per group rather than repeated per action.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5112" y="3749039"/>
            <a:ext cx="50292" cy="141732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3749039"/>
            <a:ext cx="353872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250" b="1">
                <a:solidFill>
                  <a:srgbClr val="121C2E"/>
                </a:solidFill>
                <a:latin typeface="Trebuchet MS"/>
              </a:rPr>
              <a:t>Transactional integrity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Issue, return and fine-payment operations run inside DB transactions with row locking to prevent double-issuing a copy.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3749039"/>
            <a:ext cx="50292" cy="1417320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05 ·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Database Design — 11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36192"/>
            <a:ext cx="1933041" cy="36576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99969" y="1536192"/>
            <a:ext cx="4970678" cy="36576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901952"/>
            <a:ext cx="1933041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99969" y="1901952"/>
            <a:ext cx="4970678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Login credentials, role, profile photo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35708"/>
            <a:ext cx="1933041" cy="333756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members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99969" y="2235708"/>
            <a:ext cx="4970678" cy="333756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Member profile, member code, department, active flag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569464"/>
            <a:ext cx="1933041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categories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9969" y="2569464"/>
            <a:ext cx="4970678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Book 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03220"/>
            <a:ext cx="1933041" cy="333756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authors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99969" y="2903220"/>
            <a:ext cx="4970678" cy="333756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Author records and biographies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236976"/>
            <a:ext cx="1933041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publishers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99969" y="3236976"/>
            <a:ext cx="4970678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Publisher information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570732"/>
            <a:ext cx="1933041" cy="333756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books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99969" y="3570732"/>
            <a:ext cx="4970678" cy="333756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Title, ISBN, edition, description, cover image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904488"/>
            <a:ext cx="1933041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author_book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99969" y="3904488"/>
            <a:ext cx="4970678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Pivot table: many-to-many books ↔ authors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238243"/>
            <a:ext cx="1933041" cy="333756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book_copies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99969" y="4238243"/>
            <a:ext cx="4970678" cy="333756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Physical copy, accession number, shelf,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72000"/>
            <a:ext cx="1933041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book_issues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99969" y="4572000"/>
            <a:ext cx="4970678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Issue, due, return and circulation 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905756"/>
            <a:ext cx="1933041" cy="333756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fines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99969" y="4905756"/>
            <a:ext cx="4970678" cy="333756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Overdue amount, paid amount, payment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239512"/>
            <a:ext cx="1933041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settings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99969" y="5239512"/>
            <a:ext cx="4970678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Library rules: borrowing period, fine rate, contact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1536192"/>
            <a:ext cx="3867912" cy="41148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8" y="18105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KEY RELATIONSHIPS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2148840"/>
            <a:ext cx="822960" cy="2540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8" y="245059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Book → BookCopy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26426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FB6A6"/>
                </a:solidFill>
                <a:latin typeface="Segoe UI"/>
              </a:rPr>
              <a:t>one-to-many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289864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Book ↔ Author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309067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FB6A6"/>
                </a:solidFill>
                <a:latin typeface="Segoe UI"/>
              </a:rPr>
              <a:t>many-to-many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34670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Book → Category / Publisher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3538728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FB6A6"/>
                </a:solidFill>
                <a:latin typeface="Segoe UI"/>
              </a:rPr>
              <a:t>many-to-one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3794760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User → Member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8" y="3986784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FB6A6"/>
                </a:solidFill>
                <a:latin typeface="Segoe UI"/>
              </a:rPr>
              <a:t>one-to-one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8" y="424281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Member → BookIssue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4434840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FB6A6"/>
                </a:solidFill>
                <a:latin typeface="Segoe UI"/>
              </a:rPr>
              <a:t>one-to-many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8" y="469087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BookCopy → BookIssue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5008" y="488289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FB6A6"/>
                </a:solidFill>
                <a:latin typeface="Segoe UI"/>
              </a:rPr>
              <a:t>one-to-many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513892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BookIssue → Fine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5008" y="533095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FB6A6"/>
                </a:solidFill>
                <a:latin typeface="Segoe UI"/>
              </a:rPr>
              <a:t>one-to-one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05 ·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Entity Relationship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286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2286000" cy="310896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75104"/>
            <a:ext cx="20299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id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name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18688"/>
            <a:ext cx="2286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218688"/>
            <a:ext cx="2286000" cy="310896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PUBLISHER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20299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id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name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email, phone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864608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864608"/>
            <a:ext cx="2286000" cy="310896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AUTHOR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266944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id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name, bio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2331720"/>
            <a:ext cx="2377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0440" y="2331720"/>
            <a:ext cx="2377440" cy="310896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2734056"/>
            <a:ext cx="212140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id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title, isbn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edition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category_id (FK)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publisher_id (FK)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cover_image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331720"/>
            <a:ext cx="2377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2331720"/>
            <a:ext cx="2377440" cy="310896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BOOK_COPY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2734056"/>
            <a:ext cx="212140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id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book_id (FK)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accession_number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shelf_location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1572768"/>
            <a:ext cx="226771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72600" y="1572768"/>
            <a:ext cx="2267712" cy="310896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BOOK_ISSUE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4" y="1975104"/>
            <a:ext cx="20116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id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member_id (FK)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book_copy_id (FK)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issued_at, due_at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returned_at,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3657600"/>
            <a:ext cx="226771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3657600"/>
            <a:ext cx="2267712" cy="310896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FINE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4" y="4059936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id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book_issue_id (FK)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amount, paid_amount, 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4617720"/>
            <a:ext cx="23774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4617720"/>
            <a:ext cx="2377440" cy="310896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MEMBER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2824" y="5020056"/>
            <a:ext cx="21214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id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user_id (FK)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member_code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is_active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4617720"/>
            <a:ext cx="23774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20440" y="4617720"/>
            <a:ext cx="2377440" cy="310896"/>
          </a:xfrm>
          <a:prstGeom prst="rect">
            <a:avLst/>
          </a:prstGeom>
          <a:solidFill>
            <a:srgbClr val="1B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6744" y="5020056"/>
            <a:ext cx="21214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id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name, email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password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Segoe UI"/>
              </a:rPr>
              <a:t>role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52928" y="2258568"/>
            <a:ext cx="667512" cy="621792"/>
          </a:xfrm>
          <a:prstGeom prst="line">
            <a:avLst/>
          </a:prstGeom>
          <a:ln w="15875">
            <a:solidFill>
              <a:srgbClr val="A8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866644" y="2368296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C9AB0"/>
                </a:solidFill>
                <a:latin typeface="Segoe UI"/>
              </a:rPr>
              <a:t>1:N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2852928" y="3566160"/>
            <a:ext cx="667512" cy="338327"/>
          </a:xfrm>
          <a:prstGeom prst="line">
            <a:avLst/>
          </a:prstGeom>
          <a:ln w="15875">
            <a:solidFill>
              <a:srgbClr val="A8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866644" y="3534155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C9AB0"/>
                </a:solidFill>
                <a:latin typeface="Segoe UI"/>
              </a:rPr>
              <a:t>1:N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2852928" y="4114800"/>
            <a:ext cx="667512" cy="1298448"/>
          </a:xfrm>
          <a:prstGeom prst="line">
            <a:avLst/>
          </a:prstGeom>
          <a:ln w="15875">
            <a:solidFill>
              <a:srgbClr val="A8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866644" y="4562856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C9AB0"/>
                </a:solidFill>
                <a:latin typeface="Segoe UI"/>
              </a:rPr>
              <a:t>M:N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97880" y="3291840"/>
            <a:ext cx="548640" cy="0"/>
          </a:xfrm>
          <a:prstGeom prst="line">
            <a:avLst/>
          </a:prstGeom>
          <a:ln w="15875">
            <a:solidFill>
              <a:srgbClr val="A8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60" y="309067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C9AB0"/>
                </a:solidFill>
                <a:latin typeface="Segoe UI"/>
              </a:rPr>
              <a:t>1:N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8823960" y="2468880"/>
            <a:ext cx="548640" cy="274320"/>
          </a:xfrm>
          <a:prstGeom prst="line">
            <a:avLst/>
          </a:prstGeom>
          <a:ln w="15875">
            <a:solidFill>
              <a:srgbClr val="A8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778240" y="240487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C9AB0"/>
                </a:solidFill>
                <a:latin typeface="Segoe UI"/>
              </a:rPr>
              <a:t>1:N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8823960" y="3017520"/>
            <a:ext cx="548640" cy="2011680"/>
          </a:xfrm>
          <a:prstGeom prst="line">
            <a:avLst/>
          </a:prstGeom>
          <a:ln w="15875">
            <a:solidFill>
              <a:srgbClr val="A8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778240" y="3822192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C9AB0"/>
                </a:solidFill>
                <a:latin typeface="Segoe UI"/>
              </a:rPr>
              <a:t>1:N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506456" y="3355848"/>
            <a:ext cx="0" cy="301752"/>
          </a:xfrm>
          <a:prstGeom prst="line">
            <a:avLst/>
          </a:prstGeom>
          <a:ln w="15875">
            <a:solidFill>
              <a:srgbClr val="A8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186416" y="3305556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C9AB0"/>
                </a:solidFill>
                <a:latin typeface="Segoe UI"/>
              </a:rPr>
              <a:t>1:1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97880" y="5285232"/>
            <a:ext cx="548640" cy="0"/>
          </a:xfrm>
          <a:prstGeom prst="line">
            <a:avLst/>
          </a:prstGeom>
          <a:ln w="15875">
            <a:solidFill>
              <a:srgbClr val="A8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852160" y="5084064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C9AB0"/>
                </a:solidFill>
                <a:latin typeface="Segoe UI"/>
              </a:rPr>
              <a:t>1:1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Role-Based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36192"/>
            <a:ext cx="353872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538728" cy="566928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49424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96A5E"/>
                </a:solidFill>
                <a:latin typeface="Segoe UI"/>
              </a:rPr>
              <a:t>Full system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786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E96A5E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Everything a Librarian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9809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E96A5E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System settings &amp; library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3832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E96A5E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Fine rate and borrowing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85615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E96A5E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User &amp; role administration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536192"/>
            <a:ext cx="353872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112" y="1536192"/>
            <a:ext cx="3538728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LIBRARIAN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249424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FB6A6"/>
                </a:solidFill>
                <a:latin typeface="Segoe UI"/>
              </a:rPr>
              <a:t>Daily desk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5786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Books, copies, authors, 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9809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Member records &amp; activation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3832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Issue and return circulation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785615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Fines, reports and 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1536192"/>
            <a:ext cx="353872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3296" y="1536192"/>
            <a:ext cx="3538728" cy="566928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MEMBER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249424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4B43F"/>
                </a:solidFill>
                <a:latin typeface="Segoe UI"/>
              </a:rPr>
              <a:t>Self-service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5786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Personal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9809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Own borrowing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3832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Own due 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785615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•  </a:t>
            </a:r>
            <a:r>
              <a:rPr sz="1050" b="0">
                <a:solidFill>
                  <a:srgbClr val="4A5568"/>
                </a:solidFill>
                <a:latin typeface="Segoe UI"/>
              </a:rPr>
              <a:t>Own fine 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645152"/>
            <a:ext cx="11073384" cy="128016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846320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SECURITY MEASURES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212080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Hashed passwords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212080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CSRF protection on all forms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212080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Server-side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522976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Route-group middleware guards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522976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Inactive members blocked at login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522976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✓  </a:t>
            </a:r>
            <a:r>
              <a:rPr sz="1100" b="0">
                <a:solidFill>
                  <a:srgbClr val="C8D3E2"/>
                </a:solidFill>
                <a:latin typeface="Segoe UI"/>
              </a:rPr>
              <a:t>403 on unauthorized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07 · 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Core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243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Catalogue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Categories, authors, publishers, books with cover upload, search and filtering, multi-author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50292" cy="201168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2424" y="1572768"/>
            <a:ext cx="26243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Copy Inventory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Per-copy accession number, shelf location and status: available, issued, reserved, lost, damaged.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2424" y="1572768"/>
            <a:ext cx="50292" cy="201168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72768"/>
            <a:ext cx="26243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Membership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Member code, department, contact details, linked login account, active/inactive control.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72768"/>
            <a:ext cx="50292" cy="2011680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43415" y="1572768"/>
            <a:ext cx="26243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Circulation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Issue to active members only, due-date tracking, return processing, automatic copy-status update.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43415" y="1572768"/>
            <a:ext cx="50292" cy="2011680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767328"/>
            <a:ext cx="26243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Fines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Automatic overdue fine, unpaid/partial/paid/waived states, payment recording, outstanding totals.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67328"/>
            <a:ext cx="50292" cy="201168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92424" y="3767328"/>
            <a:ext cx="26243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Reports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Overdue and circulation reports, date and status filters, CSV export for offline records.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2424" y="3767328"/>
            <a:ext cx="50292" cy="201168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67328"/>
            <a:ext cx="26243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Dashboard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Role-aware KPI cards, copy-status doughnut chart, six-month issue trend, recent activity.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67328"/>
            <a:ext cx="50292" cy="2011680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3415" y="3767328"/>
            <a:ext cx="26243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Settings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Admin-only library name and contact, default borrowing days, fine rate per overdue day.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3415" y="3767328"/>
            <a:ext cx="50292" cy="2011680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07 · KEY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Circulation Workflow — Issue to Return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1225296" y="1627632"/>
            <a:ext cx="512064" cy="512064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B6A6"/>
                </a:solidFill>
                <a:latin typeface="Trebuchet M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31720"/>
            <a:ext cx="17739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21C2E"/>
                </a:solidFill>
                <a:latin typeface="Trebuchet MS"/>
              </a:rPr>
              <a:t>Select member</a:t>
            </a:r>
          </a:p>
          <a:p>
            <a:pPr algn="ctr">
              <a:lnSpc>
                <a:spcPct val="112000"/>
              </a:lnSpc>
            </a:pPr>
            <a:r>
              <a:rPr sz="900" b="0">
                <a:solidFill>
                  <a:srgbClr val="4A5568"/>
                </a:solidFill>
                <a:latin typeface="Segoe UI"/>
              </a:rPr>
              <a:t>Only active members appear in the list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9152" y="1856231"/>
            <a:ext cx="128016" cy="128016"/>
          </a:xfrm>
          <a:prstGeom prst="rightArrow">
            <a:avLst/>
          </a:prstGeom>
          <a:solidFill>
            <a:srgbClr val="A8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08960" y="1627632"/>
            <a:ext cx="512064" cy="512064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B6A6"/>
                </a:solidFill>
                <a:latin typeface="Trebuchet M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0592" y="2331720"/>
            <a:ext cx="17739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21C2E"/>
                </a:solidFill>
                <a:latin typeface="Trebuchet MS"/>
              </a:rPr>
              <a:t>Pick available copy</a:t>
            </a:r>
          </a:p>
          <a:p>
            <a:pPr algn="ctr">
              <a:lnSpc>
                <a:spcPct val="112000"/>
              </a:lnSpc>
            </a:pPr>
            <a:r>
              <a:rPr sz="900" b="0">
                <a:solidFill>
                  <a:srgbClr val="4A5568"/>
                </a:solidFill>
                <a:latin typeface="Segoe UI"/>
              </a:rPr>
              <a:t>Copy is locked for update inside a transaction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42816" y="1856231"/>
            <a:ext cx="128016" cy="128016"/>
          </a:xfrm>
          <a:prstGeom prst="rightArrow">
            <a:avLst/>
          </a:prstGeom>
          <a:solidFill>
            <a:srgbClr val="A8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92624" y="1627632"/>
            <a:ext cx="512064" cy="512064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B6A6"/>
                </a:solidFill>
                <a:latin typeface="Trebuchet M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2331720"/>
            <a:ext cx="17739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21C2E"/>
                </a:solidFill>
                <a:latin typeface="Trebuchet MS"/>
              </a:rPr>
              <a:t>Set dates</a:t>
            </a:r>
          </a:p>
          <a:p>
            <a:pPr algn="ctr">
              <a:lnSpc>
                <a:spcPct val="112000"/>
              </a:lnSpc>
            </a:pPr>
            <a:r>
              <a:rPr sz="900" b="0">
                <a:solidFill>
                  <a:srgbClr val="4A5568"/>
                </a:solidFill>
                <a:latin typeface="Segoe UI"/>
              </a:rPr>
              <a:t>Due date defaults from the borrowing-period setting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126480" y="1856231"/>
            <a:ext cx="128016" cy="128016"/>
          </a:xfrm>
          <a:prstGeom prst="rightArrow">
            <a:avLst/>
          </a:prstGeom>
          <a:solidFill>
            <a:srgbClr val="A8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76288" y="1627632"/>
            <a:ext cx="512064" cy="512064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B6A6"/>
                </a:solidFill>
                <a:latin typeface="Trebuchet M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331720"/>
            <a:ext cx="17739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21C2E"/>
                </a:solidFill>
                <a:latin typeface="Trebuchet MS"/>
              </a:rPr>
              <a:t>Copy → issued</a:t>
            </a:r>
          </a:p>
          <a:p>
            <a:pPr algn="ctr">
              <a:lnSpc>
                <a:spcPct val="112000"/>
              </a:lnSpc>
            </a:pPr>
            <a:r>
              <a:rPr sz="900" b="0">
                <a:solidFill>
                  <a:srgbClr val="4A5568"/>
                </a:solidFill>
                <a:latin typeface="Segoe UI"/>
              </a:rPr>
              <a:t>Status flips and the issue record is created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10144" y="1856231"/>
            <a:ext cx="128016" cy="128016"/>
          </a:xfrm>
          <a:prstGeom prst="rightArrow">
            <a:avLst/>
          </a:prstGeom>
          <a:solidFill>
            <a:srgbClr val="A8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59951" y="1627632"/>
            <a:ext cx="512064" cy="512064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B6A6"/>
                </a:solidFill>
                <a:latin typeface="Trebuchet MS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3" y="2331720"/>
            <a:ext cx="17739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21C2E"/>
                </a:solidFill>
                <a:latin typeface="Trebuchet MS"/>
              </a:rPr>
              <a:t>Return recorded</a:t>
            </a:r>
          </a:p>
          <a:p>
            <a:pPr algn="ctr">
              <a:lnSpc>
                <a:spcPct val="112000"/>
              </a:lnSpc>
            </a:pPr>
            <a:r>
              <a:rPr sz="900" b="0">
                <a:solidFill>
                  <a:srgbClr val="4A5568"/>
                </a:solidFill>
                <a:latin typeface="Segoe UI"/>
              </a:rPr>
              <a:t>Return date validated against the issue date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893807" y="1856231"/>
            <a:ext cx="128016" cy="128016"/>
          </a:xfrm>
          <a:prstGeom prst="rightArrow">
            <a:avLst/>
          </a:prstGeom>
          <a:solidFill>
            <a:srgbClr val="A8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43616" y="1627632"/>
            <a:ext cx="512064" cy="512064"/>
          </a:xfrm>
          <a:prstGeom prst="ellipse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B6A6"/>
                </a:solidFill>
                <a:latin typeface="Trebuchet MS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85248" y="2331720"/>
            <a:ext cx="177393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21C2E"/>
                </a:solidFill>
                <a:latin typeface="Trebuchet MS"/>
              </a:rPr>
              <a:t>Fine if late</a:t>
            </a:r>
          </a:p>
          <a:p>
            <a:pPr algn="ctr">
              <a:lnSpc>
                <a:spcPct val="112000"/>
              </a:lnSpc>
            </a:pPr>
            <a:r>
              <a:rPr sz="900" b="0">
                <a:solidFill>
                  <a:srgbClr val="4A5568"/>
                </a:solidFill>
                <a:latin typeface="Segoe UI"/>
              </a:rPr>
              <a:t>overdue days × fine rate → unpaid fine 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977639"/>
            <a:ext cx="5440680" cy="192024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206240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BUSINESS RULES ENFORCED IN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72000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→  </a:t>
            </a:r>
            <a:r>
              <a:rPr sz="1050" b="0">
                <a:solidFill>
                  <a:srgbClr val="C8D3E2"/>
                </a:solidFill>
                <a:latin typeface="Segoe UI"/>
              </a:rPr>
              <a:t>A copy that is not 'available' can never be issued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82896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→  </a:t>
            </a:r>
            <a:r>
              <a:rPr sz="1050" b="0">
                <a:solidFill>
                  <a:srgbClr val="C8D3E2"/>
                </a:solidFill>
                <a:latin typeface="Segoe UI"/>
              </a:rPr>
              <a:t>Inactive members are rejected at issue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193792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→  </a:t>
            </a:r>
            <a:r>
              <a:rPr sz="1050" b="0">
                <a:solidFill>
                  <a:srgbClr val="C8D3E2"/>
                </a:solidFill>
                <a:latin typeface="Segoe UI"/>
              </a:rPr>
              <a:t>Return date must be on or after the issue 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04688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→  </a:t>
            </a:r>
            <a:r>
              <a:rPr sz="1050" b="0">
                <a:solidFill>
                  <a:srgbClr val="C8D3E2"/>
                </a:solidFill>
                <a:latin typeface="Segoe UI"/>
              </a:rPr>
              <a:t>A returned book cannot be returned twice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3977639"/>
            <a:ext cx="5440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3977639"/>
            <a:ext cx="50292" cy="1920240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206240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96A5E"/>
                </a:solidFill>
                <a:latin typeface="Segoe UI"/>
              </a:rPr>
              <a:t>FINE CALCULATION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5371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21C2E"/>
                </a:solidFill>
                <a:latin typeface="Trebuchet MS"/>
              </a:rPr>
              <a:t>fine = overdue_days × fine_per_day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047488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4A5568"/>
                </a:solidFill>
                <a:latin typeface="Segoe UI"/>
              </a:rPr>
              <a:t>The rate is read from the settings table, so an administrator can change library policy without touching code. Fines are written in the same transaction as the return.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08 ·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Dashboard &amp;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17739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FB6A6"/>
                </a:solidFill>
                <a:latin typeface="Trebuchet MS"/>
              </a:rPr>
              <a:t>KPI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Total Books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1773936" cy="6400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50592" y="1554480"/>
            <a:ext cx="17739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FB6A6"/>
                </a:solidFill>
                <a:latin typeface="Trebuchet MS"/>
              </a:rPr>
              <a:t>KPI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Available Copies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592" y="1554480"/>
            <a:ext cx="1773936" cy="6400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554480"/>
            <a:ext cx="17739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4B43F"/>
                </a:solidFill>
                <a:latin typeface="Trebuchet MS"/>
              </a:rPr>
              <a:t>KPI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Issued Copies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554480"/>
            <a:ext cx="1773936" cy="64008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17739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7C6CE7"/>
                </a:solidFill>
                <a:latin typeface="Trebuchet MS"/>
              </a:rPr>
              <a:t>KPI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Active Members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1773936" cy="64008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554480"/>
            <a:ext cx="17739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E96A5E"/>
                </a:solidFill>
                <a:latin typeface="Trebuchet MS"/>
              </a:rPr>
              <a:t>KPI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Overdue Issues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1554480"/>
            <a:ext cx="1773936" cy="64008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85248" y="1554480"/>
            <a:ext cx="17739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E96A5E"/>
                </a:solidFill>
                <a:latin typeface="Trebuchet MS"/>
              </a:rPr>
              <a:t>KPI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4A5568"/>
                </a:solidFill>
                <a:latin typeface="Segoe UI"/>
              </a:rPr>
              <a:t>Outstanding Fines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554480"/>
            <a:ext cx="1773936" cy="64008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743200"/>
            <a:ext cx="262432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250" b="1">
                <a:solidFill>
                  <a:srgbClr val="121C2E"/>
                </a:solidFill>
                <a:latin typeface="Trebuchet MS"/>
              </a:rPr>
              <a:t>Copy-status chart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Chart.js doughnut across available, issued, reserved, lost and damaged copies.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743200"/>
            <a:ext cx="50292" cy="160020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2424" y="2743200"/>
            <a:ext cx="262432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250" b="1">
                <a:solidFill>
                  <a:srgbClr val="121C2E"/>
                </a:solidFill>
                <a:latin typeface="Trebuchet MS"/>
              </a:rPr>
              <a:t>Six-month issue trend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Monthly issue counts aggregated with grouped SQL and rendered as a trend chart.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92424" y="2743200"/>
            <a:ext cx="50292" cy="160020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743200"/>
            <a:ext cx="262432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250" b="1">
                <a:solidFill>
                  <a:srgbClr val="121C2E"/>
                </a:solidFill>
                <a:latin typeface="Trebuchet MS"/>
              </a:rPr>
              <a:t>Overdue report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Every unreturned copy past its due date, ordered by how long it is overdue.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743200"/>
            <a:ext cx="50292" cy="1600200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43415" y="2743200"/>
            <a:ext cx="262432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250" b="1">
                <a:solidFill>
                  <a:srgbClr val="121C2E"/>
                </a:solidFill>
                <a:latin typeface="Trebuchet MS"/>
              </a:rPr>
              <a:t>Circulation + CSV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980">
                <a:solidFill>
                  <a:srgbClr val="4A5568"/>
                </a:solidFill>
                <a:latin typeface="Segoe UI"/>
              </a:rPr>
              <a:t>Date-range and status filters with a streamed CSV download for records.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43415" y="2743200"/>
            <a:ext cx="50292" cy="1600200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617720"/>
            <a:ext cx="11073384" cy="1298448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828032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ROLE-AWARE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175504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C8D3E2"/>
                </a:solidFill>
                <a:latin typeface="Segoe UI"/>
              </a:rPr>
              <a:t>The same route serves three different views. Admins and Librarians see library-wide statistics, charts and recent circulation activity; a Member sees only their own active borrowings, overdue count and unpaid fine balance — computed from their linked member record.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08 · ENGINEERING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Implementation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Race-safe issuing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The issue routine opens a database transaction and calls lockForUpdate() on the book copy, so two librarians cannot issue the same physical copy at once.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50292" cy="132588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572768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Eager loading everywhere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Listing screens load nested relations (member.user, copy.book, fine) in one query set, avoiding N+1 query problems on paginated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50292" cy="132588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63239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Filters that survive paging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Search and status filters use conditional when() clauses with withQueryString(), so filters persist across pages and export links.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63239"/>
            <a:ext cx="50292" cy="1325880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3063239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Streamed CSV export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Circulation exports stream rows straight to the response instead of building the whole file in memory.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3063239"/>
            <a:ext cx="50292" cy="1325880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553712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Configuration, not hard-coding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Borrowing period and fine rate come from the settings table with sensible fallbacks, so policy changes need no redeploy.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553712"/>
            <a:ext cx="50292" cy="132588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4553712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00" b="1">
                <a:solidFill>
                  <a:srgbClr val="121C2E"/>
                </a:solidFill>
                <a:latin typeface="Trebuchet MS"/>
              </a:rPr>
              <a:t>Consistent validation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00">
                <a:solidFill>
                  <a:srgbClr val="4A5568"/>
                </a:solidFill>
                <a:latin typeface="Segoe UI"/>
              </a:rPr>
              <a:t>Every write action validates input server-side before it reaches the database, with user-facing error and success feedback.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4553712"/>
            <a:ext cx="50292" cy="132588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09 ·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Testing &amp; Quality Assurance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AUTOMATED TESTS (PHPUnit)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2174412" cy="402336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Test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1340" y="1901952"/>
            <a:ext cx="3403427" cy="402336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Verifies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04288"/>
            <a:ext cx="21744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AuthenticationTest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1340" y="2304288"/>
            <a:ext cx="340342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Login, logout, invalid credentials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88336"/>
            <a:ext cx="2174412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RoleAccessTest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1340" y="2688336"/>
            <a:ext cx="3403427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Admin / Librarian / Member route guards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72384"/>
            <a:ext cx="21744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Feature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1340" y="3072384"/>
            <a:ext cx="340342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HTTP responses and redirects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456432"/>
            <a:ext cx="2174412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Unit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1340" y="3456432"/>
            <a:ext cx="3403427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Isolated helper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7276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MANUAL TEST SCENARIOS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901952"/>
            <a:ext cx="2810865" cy="402336"/>
          </a:xfrm>
          <a:prstGeom prst="rect">
            <a:avLst/>
          </a:prstGeom>
          <a:solidFill>
            <a:srgbClr val="1B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Scenario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0225" y="1901952"/>
            <a:ext cx="2520086" cy="402336"/>
          </a:xfrm>
          <a:prstGeom prst="rect">
            <a:avLst/>
          </a:prstGeom>
          <a:solidFill>
            <a:srgbClr val="1B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Expected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304288"/>
            <a:ext cx="281086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Issue an unavailable copy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20225" y="2304288"/>
            <a:ext cx="252008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Blocked with error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688336"/>
            <a:ext cx="2810865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Issue to inactive member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0225" y="2688336"/>
            <a:ext cx="2520086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Blocked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072384"/>
            <a:ext cx="281086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Return after due 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20225" y="3072384"/>
            <a:ext cx="252008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Fine auto-created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456432"/>
            <a:ext cx="2810865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1C2E"/>
                </a:solidFill>
                <a:latin typeface="Segoe UI"/>
              </a:rPr>
              <a:t>Overpay a fine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20225" y="3456432"/>
            <a:ext cx="2520086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Validation rejects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160520"/>
            <a:ext cx="2084831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1FB6A6"/>
                </a:solidFill>
                <a:latin typeface="Trebuchet MS"/>
              </a:rPr>
              <a:t>11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Database tables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160520"/>
            <a:ext cx="2084831" cy="6400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25496" y="4160520"/>
            <a:ext cx="2084831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4B43F"/>
                </a:solidFill>
                <a:latin typeface="Trebuchet MS"/>
              </a:rPr>
              <a:t>15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Controllers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25496" y="4160520"/>
            <a:ext cx="2084831" cy="64008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84064" y="4160520"/>
            <a:ext cx="2084831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7C6CE7"/>
                </a:solidFill>
                <a:latin typeface="Trebuchet MS"/>
              </a:rPr>
              <a:t>10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Eloquent models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84064" y="4160520"/>
            <a:ext cx="2084831" cy="64008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42631" y="4160520"/>
            <a:ext cx="2084831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E96A5E"/>
                </a:solidFill>
                <a:latin typeface="Trebuchet MS"/>
              </a:rPr>
              <a:t>3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User roles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42631" y="4160520"/>
            <a:ext cx="2084831" cy="64008"/>
          </a:xfrm>
          <a:prstGeom prst="rect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4160520"/>
            <a:ext cx="2084831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1FB6A6"/>
                </a:solidFill>
                <a:latin typeface="Trebuchet MS"/>
              </a:rPr>
              <a:t>8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A5568"/>
                </a:solidFill>
                <a:latin typeface="Segoe UI"/>
              </a:rPr>
              <a:t>Functional modules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4160520"/>
            <a:ext cx="2084831" cy="6400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632704"/>
            <a:ext cx="11073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4A5568"/>
                </a:solidFill>
                <a:latin typeface="Segoe UI"/>
              </a:rPr>
              <a:t>Outcome: all core circulation, fine and access-control paths behave as specified under both automated and manual testing.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10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Limitations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96A5E"/>
                </a:solidFill>
                <a:latin typeface="Segoe UI"/>
              </a:rPr>
              <a:t>CURRENT LIMITATIONS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043684"/>
            <a:ext cx="100584" cy="100584"/>
          </a:xfrm>
          <a:prstGeom prst="ellipse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65960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4A5568"/>
                </a:solidFill>
                <a:latin typeface="Segoe UI"/>
              </a:rPr>
              <a:t>No email or SMS due-date reminders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64308"/>
            <a:ext cx="100584" cy="100584"/>
          </a:xfrm>
          <a:prstGeom prst="ellipse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386584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4A5568"/>
                </a:solidFill>
                <a:latin typeface="Segoe UI"/>
              </a:rPr>
              <a:t>No online reservation or hold queue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84932"/>
            <a:ext cx="100584" cy="100584"/>
          </a:xfrm>
          <a:prstGeom prst="ellipse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0720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4A5568"/>
                </a:solidFill>
                <a:latin typeface="Segoe UI"/>
              </a:rPr>
              <a:t>No barcode / RFID scanning support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305556"/>
            <a:ext cx="100584" cy="100584"/>
          </a:xfrm>
          <a:prstGeom prst="ellipse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227832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4A5568"/>
                </a:solidFill>
                <a:latin typeface="Segoe UI"/>
              </a:rPr>
              <a:t>Reports export to CSV only, not PDF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726180"/>
            <a:ext cx="100584" cy="100584"/>
          </a:xfrm>
          <a:prstGeom prst="ellipse">
            <a:avLst/>
          </a:prstGeom>
          <a:solidFill>
            <a:srgbClr val="E9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48456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4A5568"/>
                </a:solidFill>
                <a:latin typeface="Segoe UI"/>
              </a:rPr>
              <a:t>Single-branch library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57276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PLANNED ENHANCEMENTS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2043684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1965960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21C2E"/>
                </a:solidFill>
                <a:latin typeface="Segoe UI"/>
              </a:rPr>
              <a:t>Notifications — </a:t>
            </a:r>
            <a:r>
              <a:rPr sz="1150" b="0">
                <a:solidFill>
                  <a:srgbClr val="4A5568"/>
                </a:solidFill>
                <a:latin typeface="Segoe UI"/>
              </a:rPr>
              <a:t>automated due-date and overdue emails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2464308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2386584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21C2E"/>
                </a:solidFill>
                <a:latin typeface="Segoe UI"/>
              </a:rPr>
              <a:t>Reservations — </a:t>
            </a:r>
            <a:r>
              <a:rPr sz="1150" b="0">
                <a:solidFill>
                  <a:srgbClr val="4A5568"/>
                </a:solidFill>
                <a:latin typeface="Segoe UI"/>
              </a:rPr>
              <a:t>member hold queue with priority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2884932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280720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21C2E"/>
                </a:solidFill>
                <a:latin typeface="Segoe UI"/>
              </a:rPr>
              <a:t>Barcode support — </a:t>
            </a:r>
            <a:r>
              <a:rPr sz="1150" b="0">
                <a:solidFill>
                  <a:srgbClr val="4A5568"/>
                </a:solidFill>
                <a:latin typeface="Segoe UI"/>
              </a:rPr>
              <a:t>scan-to-issue and scan-to-return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305556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3227832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21C2E"/>
                </a:solidFill>
                <a:latin typeface="Segoe UI"/>
              </a:rPr>
              <a:t>REST API — </a:t>
            </a:r>
            <a:r>
              <a:rPr sz="1150" b="0">
                <a:solidFill>
                  <a:srgbClr val="4A5568"/>
                </a:solidFill>
                <a:latin typeface="Segoe UI"/>
              </a:rPr>
              <a:t>mobile app and OPAC kiosk clients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3726180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648456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21C2E"/>
                </a:solidFill>
                <a:latin typeface="Segoe UI"/>
              </a:rPr>
              <a:t>Analytics — </a:t>
            </a:r>
            <a:r>
              <a:rPr sz="1150" b="0">
                <a:solidFill>
                  <a:srgbClr val="4A5568"/>
                </a:solidFill>
                <a:latin typeface="Segoe UI"/>
              </a:rPr>
              <a:t>most-borrowed titles, member activity ranking</a:t>
            </a:r>
          </a:p>
        </p:txBody>
      </p:sp>
      <p:sp>
        <p:nvSpPr>
          <p:cNvPr id="31" name="Oval 30"/>
          <p:cNvSpPr/>
          <p:nvPr/>
        </p:nvSpPr>
        <p:spPr>
          <a:xfrm>
            <a:off x="6309360" y="4146804"/>
            <a:ext cx="100584" cy="100584"/>
          </a:xfrm>
          <a:prstGeom prst="ellipse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4069080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21C2E"/>
                </a:solidFill>
                <a:latin typeface="Segoe UI"/>
              </a:rPr>
              <a:t>Multi-branch — </a:t>
            </a:r>
            <a:r>
              <a:rPr sz="1150" b="0">
                <a:solidFill>
                  <a:srgbClr val="4A5568"/>
                </a:solidFill>
                <a:latin typeface="Segoe UI"/>
              </a:rPr>
              <a:t>inter-library transfer between campuses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480560"/>
            <a:ext cx="11073384" cy="141732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709160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B43F"/>
                </a:solidFill>
                <a:latin typeface="Segoe UI"/>
              </a:rPr>
              <a:t>VERSION 2 PRIORITY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047488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C8D3E2"/>
                </a:solidFill>
                <a:latin typeface="Segoe UI"/>
              </a:rPr>
              <a:t>Notifications and reservations deliver the largest gain for members with the least architectural change — both build on the existing book_issues and members tables and reuse the current settings-driven policy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5720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B6A6"/>
                </a:solidFill>
                <a:latin typeface="Segoe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21C2E"/>
                </a:solidFill>
                <a:latin typeface="Trebuchet MS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73384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C9AB0"/>
                </a:solidFill>
                <a:latin typeface="Segoe UI"/>
              </a:rPr>
              <a:t>Library Management System  ·  Laravel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382512"/>
            <a:ext cx="24963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C9AB0"/>
                </a:solidFill>
                <a:latin typeface="Segoe U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353872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50" b="1">
                <a:solidFill>
                  <a:srgbClr val="121C2E"/>
                </a:solidFill>
                <a:latin typeface="Trebuchet MS"/>
              </a:rPr>
              <a:t>Objectives met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50">
                <a:solidFill>
                  <a:srgbClr val="4A5568"/>
                </a:solidFill>
                <a:latin typeface="Segoe UI"/>
              </a:rPr>
              <a:t>Every objective set at the start of the project — catalogue, membership, circulation, fines, roles and reporting — is implemented and working end to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0200"/>
            <a:ext cx="50292" cy="196596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600200"/>
            <a:ext cx="353872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50" b="1">
                <a:solidFill>
                  <a:srgbClr val="121C2E"/>
                </a:solidFill>
                <a:latin typeface="Trebuchet MS"/>
              </a:rPr>
              <a:t>Clean, extensible design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50">
                <a:solidFill>
                  <a:srgbClr val="4A5568"/>
                </a:solidFill>
                <a:latin typeface="Segoe UI"/>
              </a:rPr>
              <a:t>A conventional Laravel MVC structure with a normalised schema means new modules can be added without reworking existing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600200"/>
            <a:ext cx="50292" cy="196596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00200"/>
            <a:ext cx="353872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55448" bIns="109728"/>
          <a:lstStyle/>
          <a:p>
            <a:pPr algn="ctr"/>
            <a:r>
              <a:rPr sz="1350" b="1">
                <a:solidFill>
                  <a:srgbClr val="121C2E"/>
                </a:solidFill>
                <a:latin typeface="Trebuchet MS"/>
              </a:rPr>
              <a:t>Real operational value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050">
                <a:solidFill>
                  <a:srgbClr val="4A5568"/>
                </a:solidFill>
                <a:latin typeface="Segoe UI"/>
              </a:rPr>
              <a:t>Desk staff get instant availability, enforced due dates and automatic fines; management gets live statistics and exportable reports.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00200"/>
            <a:ext cx="50292" cy="1965960"/>
          </a:xfrm>
          <a:prstGeom prst="rect">
            <a:avLst/>
          </a:prstGeom>
          <a:solidFill>
            <a:srgbClr val="7C6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40480"/>
            <a:ext cx="11073384" cy="20574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40480"/>
            <a:ext cx="11073384" cy="82296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24528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Trebuchet MS"/>
              </a:rPr>
              <a:t>“The system replaces a manual register with an auditable, role-secured digital workflow — turning library data into decisions.”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230368"/>
            <a:ext cx="1188720" cy="2540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13248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C9AB0"/>
                </a:solidFill>
                <a:latin typeface="Segoe UI"/>
              </a:rPr>
              <a:t>Library Management System  ·  Laravel 13  ·  MySQL  ·  github.com/yusuf0836/Library-Management-System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6400800" cy="6400800"/>
          </a:xfrm>
          <a:prstGeom prst="ellipse">
            <a:avLst/>
          </a:prstGeom>
          <a:solidFill>
            <a:srgbClr val="1B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Trebuchet MS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3520440"/>
            <a:ext cx="914400" cy="38100"/>
          </a:xfrm>
          <a:prstGeom prst="rect">
            <a:avLst/>
          </a:prstGeom>
          <a:solidFill>
            <a:srgbClr val="F4B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1FB6A6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C9AB0"/>
                </a:solidFill>
                <a:latin typeface="Segoe UI"/>
              </a:rPr>
              <a:t>github.com/yusuf0836/Library-Management-System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